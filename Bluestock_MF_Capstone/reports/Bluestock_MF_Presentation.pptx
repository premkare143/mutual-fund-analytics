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Monthly SIP Inflows (₹ Crore)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SIP Inflow (₹ Cr)</c:v>
                </c:pt>
              </c:strCache>
            </c:strRef>
          </c:tx>
          <c:spPr>
            <a:solidFill>
              <a:srgbClr val="185FA5"/>
            </a:solidFill>
            <a:ln w="31750" cap="flat">
              <a:solidFill>
                <a:srgbClr val="185FA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85FA5"/>
              </a:solidFill>
              <a:ln w="9525" cap="flat">
                <a:solidFill>
                  <a:srgbClr val="185FA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Jan 22</c:v>
                  </c:pt>
                  <c:pt idx="1">
                    <c:v>Jun 22</c:v>
                  </c:pt>
                  <c:pt idx="2">
                    <c:v>Dec 22</c:v>
                  </c:pt>
                  <c:pt idx="3">
                    <c:v>Jun 23</c:v>
                  </c:pt>
                  <c:pt idx="4">
                    <c:v>Dec 23</c:v>
                  </c:pt>
                  <c:pt idx="5">
                    <c:v>Jun 24</c:v>
                  </c:pt>
                  <c:pt idx="6">
                    <c:v>Dec 24</c:v>
                  </c:pt>
                  <c:pt idx="7">
                    <c:v>Jun 25</c:v>
                  </c:pt>
                  <c:pt idx="8">
                    <c:v>Dec 25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11517</c:v>
                </c:pt>
                <c:pt idx="1">
                  <c:v>12276</c:v>
                </c:pt>
                <c:pt idx="2">
                  <c:v>13573</c:v>
                </c:pt>
                <c:pt idx="3">
                  <c:v>14734</c:v>
                </c:pt>
                <c:pt idx="4">
                  <c:v>17610</c:v>
                </c:pt>
                <c:pt idx="5">
                  <c:v>21262</c:v>
                </c:pt>
                <c:pt idx="6">
                  <c:v>26459</c:v>
                </c:pt>
                <c:pt idx="7">
                  <c:v>27274</c:v>
                </c:pt>
                <c:pt idx="8">
                  <c:v>31002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6F9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AUM by Fund House (₹ Lakh Cr)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AUM (₹ Lakh Cr)</c:v>
                </c:pt>
              </c:strCache>
            </c:strRef>
          </c:tx>
          <c:spPr>
            <a:solidFill>
              <a:srgbClr val="0F27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64748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SBI</c:v>
                  </c:pt>
                  <c:pt idx="1">
                    <c:v>ICICI Pru</c:v>
                  </c:pt>
                  <c:pt idx="2">
                    <c:v>HDFC</c:v>
                  </c:pt>
                  <c:pt idx="3">
                    <c:v>Nippon</c:v>
                  </c:pt>
                  <c:pt idx="4">
                    <c:v>Axis</c:v>
                  </c:pt>
                  <c:pt idx="5">
                    <c:v>Kotak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12.5</c:v>
                </c:pt>
                <c:pt idx="1">
                  <c:v>10.74</c:v>
                </c:pt>
                <c:pt idx="2">
                  <c:v>9.3</c:v>
                </c:pt>
                <c:pt idx="3">
                  <c:v>7</c:v>
                </c:pt>
                <c:pt idx="4">
                  <c:v>5.5</c:v>
                </c:pt>
                <c:pt idx="5">
                  <c:v>4.7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64748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6F9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185FA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33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85FA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85FA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85FA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85FA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F2744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F2744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D9E75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D9E75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SBI Small Cap Direct</c:v>
                  </c:pt>
                  <c:pt idx="1">
                    <c:v>Kotak Flexicap Reg</c:v>
                  </c:pt>
                  <c:pt idx="2">
                    <c:v>Kotak Emerging Eq</c:v>
                  </c:pt>
                  <c:pt idx="3">
                    <c:v>ABSL Small Cap Reg</c:v>
                  </c:pt>
                  <c:pt idx="4">
                    <c:v>SBI Small Cap Reg</c:v>
                  </c:pt>
                  <c:pt idx="5">
                    <c:v>Mirae Large Cap</c:v>
                  </c:pt>
                  <c:pt idx="6">
                    <c:v>HDFC Short Term Debt</c:v>
                  </c:pt>
                  <c:pt idx="7">
                    <c:v>ICICI Pru Liquid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72.8</c:v>
                </c:pt>
                <c:pt idx="1">
                  <c:v>71.5</c:v>
                </c:pt>
                <c:pt idx="2">
                  <c:v>70.5</c:v>
                </c:pt>
                <c:pt idx="3">
                  <c:v>68.3</c:v>
                </c:pt>
                <c:pt idx="4">
                  <c:v>64.4</c:v>
                </c:pt>
                <c:pt idx="5">
                  <c:v>63.9</c:v>
                </c:pt>
                <c:pt idx="6">
                  <c:v>63</c:v>
                </c:pt>
                <c:pt idx="7">
                  <c:v>61.8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233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55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6F9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Daily VaR (95%) per Fund %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VaR 95%</c:v>
                </c:pt>
              </c:strCache>
            </c:strRef>
          </c:tx>
          <c:spPr>
            <a:solidFill>
              <a:srgbClr val="A32D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64748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32D2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32D2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32D2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A751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D9E75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D9E75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ABSL Small Cap</c:v>
                  </c:pt>
                  <c:pt idx="1">
                    <c:v>UTI Mid Cap</c:v>
                  </c:pt>
                  <c:pt idx="2">
                    <c:v>SBI Small Cap</c:v>
                  </c:pt>
                  <c:pt idx="3">
                    <c:v>HDFC Top 100</c:v>
                  </c:pt>
                  <c:pt idx="4">
                    <c:v>Short Term Debt</c:v>
                  </c:pt>
                  <c:pt idx="5">
                    <c:v>Liquid Fund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-2.6</c:v>
                </c:pt>
                <c:pt idx="1">
                  <c:v>-1.92</c:v>
                </c:pt>
                <c:pt idx="2">
                  <c:v>-1.87</c:v>
                </c:pt>
                <c:pt idx="3">
                  <c:v>-1.44</c:v>
                </c:pt>
                <c:pt idx="4">
                  <c:v>-0.38</c:v>
                </c:pt>
                <c:pt idx="5">
                  <c:v>-0.03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64748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6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slide. Introduce the Bluestock Fintech Mutual Fund Analytics Platform. Cover team members and timeline.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each problem briefly. Emphasize that fragmented data is the core issue this platform solves.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that all data is from AMFI India public sources. NAV data is anchored to real mfapi.in values.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5 layers. Emphasize that this mirrors production pipelines at Zerodha, Groww.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SIP grew 169% from 11,517 to 31,002 Cr. SBI dominates AUM with 12.5L Cr.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5 most important insights from Day 3 EDA. Each finding drives a business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metrics computed using Python SciPy for Alpha/Beta. Risk-free rate = 6.5% (RBI repo rate proxy).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SBI Small Cap Direct tops at 72.8. Note that Liquid funds score high due to Sharpe despite low returns.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HTML dashboard is fully interactive — no internet required. Power BI pbix also submitted.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 95% — ABSL Small Cap at -2.60% is highest risk. Recommender uses SEBI risk grade filter + Sharpe rank.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the top 10 findings. These drive the recommendations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slide. Mention that all code is on GitHub and the dashboard is fully functional.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Mutual Fund Analytics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457200" y="1508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6BB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457200" y="2240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C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Data Engineering, ETL Pipeline &amp; Interactive Dashboard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0" y="2743200"/>
            <a:ext cx="2743200" cy="36576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Bluestock Fintech Pvt. Ltd.  |  Prem, Sumit, Nikhita, Jyoti Prakash  |  June 2026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05840" y="3429000"/>
            <a:ext cx="1554480" cy="685800"/>
          </a:xfrm>
          <a:prstGeom prst="roundRect">
            <a:avLst>
              <a:gd name="adj" fmla="val 10667"/>
            </a:avLst>
          </a:prstGeom>
          <a:solidFill>
            <a:srgbClr val="1A3E6B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45643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B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05840" y="380390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26080" y="3429000"/>
            <a:ext cx="1554480" cy="685800"/>
          </a:xfrm>
          <a:prstGeom prst="roundRect">
            <a:avLst>
              <a:gd name="adj" fmla="val 10667"/>
            </a:avLst>
          </a:prstGeom>
          <a:solidFill>
            <a:srgbClr val="1A3E6B"/>
          </a:solidFill>
          <a:ln/>
        </p:spPr>
      </p:sp>
      <p:sp>
        <p:nvSpPr>
          <p:cNvPr id="11" name="Text 9"/>
          <p:cNvSpPr/>
          <p:nvPr/>
        </p:nvSpPr>
        <p:spPr>
          <a:xfrm>
            <a:off x="2926080" y="345643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B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926080" y="380390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0" y="3429000"/>
            <a:ext cx="1554480" cy="685800"/>
          </a:xfrm>
          <a:prstGeom prst="roundRect">
            <a:avLst>
              <a:gd name="adj" fmla="val 10667"/>
            </a:avLst>
          </a:prstGeom>
          <a:solidFill>
            <a:srgbClr val="1A3E6B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345643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B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87K+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846320" y="380390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66560" y="3429000"/>
            <a:ext cx="1554480" cy="685800"/>
          </a:xfrm>
          <a:prstGeom prst="roundRect">
            <a:avLst>
              <a:gd name="adj" fmla="val 10667"/>
            </a:avLst>
          </a:prstGeom>
          <a:solidFill>
            <a:srgbClr val="1A3E6B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0" y="345643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B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 Yrs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766560" y="380390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 Data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280160" cy="256032"/>
          </a:xfrm>
          <a:prstGeom prst="roundRect">
            <a:avLst>
              <a:gd name="adj" fmla="val 14286"/>
            </a:avLst>
          </a:prstGeom>
          <a:solidFill>
            <a:srgbClr val="185FA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Objective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platform was built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3840480" cy="777240"/>
          </a:xfrm>
          <a:prstGeom prst="roundRect">
            <a:avLst>
              <a:gd name="adj" fmla="val 7059"/>
            </a:avLst>
          </a:prstGeom>
          <a:solidFill>
            <a:srgbClr val="F4F6F9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1463040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🔀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32688" y="1536192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Fragmentation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32688" y="1810512"/>
            <a:ext cx="3182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NAV, AUM, SIP data on different platforms in different formats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377440"/>
            <a:ext cx="3840480" cy="777240"/>
          </a:xfrm>
          <a:prstGeom prst="roundRect">
            <a:avLst>
              <a:gd name="adj" fmla="val 7059"/>
            </a:avLst>
          </a:prstGeom>
          <a:solidFill>
            <a:srgbClr val="F4F6F9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" y="2377440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32688" y="2450592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Risk Comparison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32688" y="2724912"/>
            <a:ext cx="3182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Investors can't compare funds on Sharpe, Alpha, Beta easily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3291840"/>
            <a:ext cx="3840480" cy="777240"/>
          </a:xfrm>
          <a:prstGeom prst="roundRect">
            <a:avLst>
              <a:gd name="adj" fmla="val 7059"/>
            </a:avLst>
          </a:prstGeom>
          <a:solidFill>
            <a:srgbClr val="F4F6F9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" y="3291840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📉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32688" y="3364992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Benchmark Tracking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32688" y="3639312"/>
            <a:ext cx="3182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 investors unaware if fund beats Nifty 50/100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1463040"/>
            <a:ext cx="3840480" cy="777240"/>
          </a:xfrm>
          <a:prstGeom prst="roundRect">
            <a:avLst>
              <a:gd name="adj" fmla="val 7059"/>
            </a:avLst>
          </a:prstGeom>
          <a:solidFill>
            <a:srgbClr val="F4F6F9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" y="1463040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32688" y="1536192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Blind Spot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32688" y="1810512"/>
            <a:ext cx="3182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visibility into demographic investment behaviour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0" y="2377440"/>
            <a:ext cx="3840480" cy="777240"/>
          </a:xfrm>
          <a:prstGeom prst="roundRect">
            <a:avLst>
              <a:gd name="adj" fmla="val 7059"/>
            </a:avLst>
          </a:prstGeom>
          <a:solidFill>
            <a:srgbClr val="F4F6F9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681728" y="2377440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138928" y="2450592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Reporting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38928" y="2724912"/>
            <a:ext cx="3182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MF reports are static PDFs taking days to prepare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0" y="1463040"/>
            <a:ext cx="4206240" cy="777240"/>
          </a:xfrm>
          <a:prstGeom prst="roundRect">
            <a:avLst>
              <a:gd name="adj" fmla="val 7059"/>
            </a:avLst>
          </a:prstGeom>
          <a:solidFill>
            <a:srgbClr val="F4F6F9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681728" y="1463040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138928" y="1536192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Blind Spot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38928" y="1810512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visibility into demographic investment behaviour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0" y="2377440"/>
            <a:ext cx="4206240" cy="777240"/>
          </a:xfrm>
          <a:prstGeom prst="roundRect">
            <a:avLst>
              <a:gd name="adj" fmla="val 7059"/>
            </a:avLst>
          </a:prstGeom>
          <a:solidFill>
            <a:srgbClr val="F4F6F9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681728" y="2377440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138928" y="2450592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Reporting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38928" y="2724912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MF reports are static PDFs taking days to prepare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280160" cy="256032"/>
          </a:xfrm>
          <a:prstGeom prst="roundRect">
            <a:avLst>
              <a:gd name="adj" fmla="val 14286"/>
            </a:avLst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 &amp; Datasets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real AMFI datasets — 87,000+ rows of financial data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17320"/>
          <a:ext cx="8412480" cy="3383280"/>
        </p:xfrm>
        <a:graphic>
          <a:graphicData uri="http://schemas.openxmlformats.org/drawingml/2006/table">
            <a:tbl>
              <a:tblPr/>
              <a:tblGrid>
                <a:gridCol w="457200"/>
                <a:gridCol w="1828800"/>
                <a:gridCol w="1097280"/>
                <a:gridCol w="5029200"/>
              </a:tblGrid>
              <a:tr h="375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Dataset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Rows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85FA5"/>
                          </a:solidFill>
                        </a:rPr>
                        <a:t>01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</a:rPr>
                        <a:t>Fund Master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9E75"/>
                          </a:solidFill>
                        </a:rPr>
                        <a:t>40 rows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Real AMFI scheme codes, categories, benchmarks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85FA5"/>
                          </a:solidFill>
                        </a:rPr>
                        <a:t>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</a:rPr>
                        <a:t>NAV History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9E75"/>
                          </a:solidFill>
                        </a:rPr>
                        <a:t>46,000 rows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Daily NAV Jan 2022–May 2026 from mfapi.in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85FA5"/>
                          </a:solidFill>
                        </a:rPr>
                        <a:t>03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</a:rPr>
                        <a:t>AUM by Fund House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9E75"/>
                          </a:solidFill>
                        </a:rPr>
                        <a:t>90 rows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Quarterly AUM for top 10 AMCs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85FA5"/>
                          </a:solidFill>
                        </a:rPr>
                        <a:t>04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</a:rPr>
                        <a:t>Monthly SIP Inflows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9E75"/>
                          </a:solidFill>
                        </a:rPr>
                        <a:t>48 rows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Real AMFI SIP inflow data — all-time highs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85FA5"/>
                          </a:solidFill>
                        </a:rPr>
                        <a:t>07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</a:rPr>
                        <a:t>Scheme Performance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9E75"/>
                          </a:solidFill>
                        </a:rPr>
                        <a:t>40 rows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Sharpe, Alpha, Beta, Max Drawdown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85FA5"/>
                          </a:solidFill>
                        </a:rPr>
                        <a:t>08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</a:rPr>
                        <a:t>Investor Transactions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9E75"/>
                          </a:solidFill>
                        </a:rPr>
                        <a:t>32,778 rows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SIP/Lumpsum/Redemption with demographics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85FA5"/>
                          </a:solidFill>
                        </a:rPr>
                        <a:t>09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</a:rPr>
                        <a:t>Portfolio Holdings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9E75"/>
                          </a:solidFill>
                        </a:rPr>
                        <a:t>322 rows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Top equity holdings with sector weights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85FA5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</a:rPr>
                        <a:t>Benchmark Indices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9E75"/>
                          </a:solidFill>
                        </a:rPr>
                        <a:t>8,050 rows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Nifty 50, Nifty 100, BSE SmallCap daily data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280160" cy="256032"/>
          </a:xfrm>
          <a:prstGeom prst="roundRect">
            <a:avLst>
              <a:gd name="adj" fmla="val 14286"/>
            </a:avLst>
          </a:prstGeom>
          <a:solidFill>
            <a:srgbClr val="533AB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— ETL Pipeline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→ Transform → Load → Analyse → Visualise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1508760" cy="1645920"/>
          </a:xfrm>
          <a:prstGeom prst="roundRect">
            <a:avLst>
              <a:gd name="adj" fmla="val 6061"/>
            </a:avLst>
          </a:prstGeom>
          <a:solidFill>
            <a:srgbClr val="185FA5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5087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965960"/>
            <a:ext cx="150876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CSV files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mfapi.in REST API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874520" y="19202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057400" y="1417320"/>
            <a:ext cx="1508760" cy="1645920"/>
          </a:xfrm>
          <a:prstGeom prst="roundRect">
            <a:avLst>
              <a:gd name="adj" fmla="val 6061"/>
            </a:avLst>
          </a:prstGeom>
          <a:solidFill>
            <a:srgbClr val="1D9E75"/>
          </a:solidFill>
          <a:ln/>
        </p:spPr>
      </p:sp>
      <p:sp>
        <p:nvSpPr>
          <p:cNvPr id="11" name="Text 9"/>
          <p:cNvSpPr/>
          <p:nvPr/>
        </p:nvSpPr>
        <p:spPr>
          <a:xfrm>
            <a:off x="2057400" y="15087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57400" y="1965960"/>
            <a:ext cx="150876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 cleaning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Forward-fill NAV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566160" y="19202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749040" y="1417320"/>
            <a:ext cx="1508760" cy="1645920"/>
          </a:xfrm>
          <a:prstGeom prst="roundRect">
            <a:avLst>
              <a:gd name="adj" fmla="val 6061"/>
            </a:avLst>
          </a:prstGeom>
          <a:solidFill>
            <a:srgbClr val="BA7517"/>
          </a:solidFill>
          <a:ln/>
        </p:spPr>
      </p:sp>
      <p:sp>
        <p:nvSpPr>
          <p:cNvPr id="15" name="Text 13"/>
          <p:cNvSpPr/>
          <p:nvPr/>
        </p:nvSpPr>
        <p:spPr>
          <a:xfrm>
            <a:off x="3749040" y="15087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49040" y="1965960"/>
            <a:ext cx="150876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star schema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tables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257800" y="19202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40680" y="1417320"/>
            <a:ext cx="1508760" cy="1645920"/>
          </a:xfrm>
          <a:prstGeom prst="roundRect">
            <a:avLst>
              <a:gd name="adj" fmla="val 6061"/>
            </a:avLst>
          </a:prstGeom>
          <a:solidFill>
            <a:srgbClr val="D85A30"/>
          </a:solidFill>
          <a:ln/>
        </p:spPr>
      </p:sp>
      <p:sp>
        <p:nvSpPr>
          <p:cNvPr id="19" name="Text 17"/>
          <p:cNvSpPr/>
          <p:nvPr/>
        </p:nvSpPr>
        <p:spPr>
          <a:xfrm>
            <a:off x="5440680" y="15087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40680" y="1965960"/>
            <a:ext cx="150876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Sharpe, Alpha, VaR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Jupyter notebooks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949440" y="19202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132320" y="1417320"/>
            <a:ext cx="1508760" cy="1645920"/>
          </a:xfrm>
          <a:prstGeom prst="roundRect">
            <a:avLst>
              <a:gd name="adj" fmla="val 6061"/>
            </a:avLst>
          </a:prstGeom>
          <a:solidFill>
            <a:srgbClr val="533AB7"/>
          </a:solidFill>
          <a:ln/>
        </p:spPr>
      </p:sp>
      <p:sp>
        <p:nvSpPr>
          <p:cNvPr id="23" name="Text 21"/>
          <p:cNvSpPr/>
          <p:nvPr/>
        </p:nvSpPr>
        <p:spPr>
          <a:xfrm>
            <a:off x="7132320" y="15087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VISUALISE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32320" y="1965960"/>
            <a:ext cx="150876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6-page dashboard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+ HTML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65760" y="3246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Star Schema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3566160"/>
            <a:ext cx="1280160" cy="347472"/>
          </a:xfrm>
          <a:prstGeom prst="roundRect">
            <a:avLst>
              <a:gd name="adj" fmla="val 13158"/>
            </a:avLst>
          </a:prstGeom>
          <a:solidFill>
            <a:srgbClr val="EAF1FB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35661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dim_fund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783080" y="3566160"/>
            <a:ext cx="1280160" cy="347472"/>
          </a:xfrm>
          <a:prstGeom prst="roundRect">
            <a:avLst>
              <a:gd name="adj" fmla="val 13158"/>
            </a:avLst>
          </a:prstGeom>
          <a:solidFill>
            <a:srgbClr val="EAF1FB"/>
          </a:solidFill>
          <a:ln/>
        </p:spPr>
      </p:sp>
      <p:sp>
        <p:nvSpPr>
          <p:cNvPr id="29" name="Text 27"/>
          <p:cNvSpPr/>
          <p:nvPr/>
        </p:nvSpPr>
        <p:spPr>
          <a:xfrm>
            <a:off x="1783080" y="35661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dim_date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00400" y="3566160"/>
            <a:ext cx="1280160" cy="347472"/>
          </a:xfrm>
          <a:prstGeom prst="roundRect">
            <a:avLst>
              <a:gd name="adj" fmla="val 13158"/>
            </a:avLst>
          </a:prstGeom>
          <a:solidFill>
            <a:srgbClr val="EAF1FB"/>
          </a:solidFill>
          <a:ln/>
        </p:spPr>
      </p:sp>
      <p:sp>
        <p:nvSpPr>
          <p:cNvPr id="31" name="Text 29"/>
          <p:cNvSpPr/>
          <p:nvPr/>
        </p:nvSpPr>
        <p:spPr>
          <a:xfrm>
            <a:off x="3200400" y="35661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fact_nav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617720" y="3566160"/>
            <a:ext cx="1280160" cy="347472"/>
          </a:xfrm>
          <a:prstGeom prst="roundRect">
            <a:avLst>
              <a:gd name="adj" fmla="val 13158"/>
            </a:avLst>
          </a:prstGeom>
          <a:solidFill>
            <a:srgbClr val="EAF1FB"/>
          </a:solidFill>
          <a:ln/>
        </p:spPr>
      </p:sp>
      <p:sp>
        <p:nvSpPr>
          <p:cNvPr id="33" name="Text 31"/>
          <p:cNvSpPr/>
          <p:nvPr/>
        </p:nvSpPr>
        <p:spPr>
          <a:xfrm>
            <a:off x="4617720" y="35661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fact_transactions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035040" y="3566160"/>
            <a:ext cx="1280160" cy="347472"/>
          </a:xfrm>
          <a:prstGeom prst="roundRect">
            <a:avLst>
              <a:gd name="adj" fmla="val 13158"/>
            </a:avLst>
          </a:prstGeom>
          <a:solidFill>
            <a:srgbClr val="EAF1FB"/>
          </a:solidFill>
          <a:ln/>
        </p:spPr>
      </p:sp>
      <p:sp>
        <p:nvSpPr>
          <p:cNvPr id="35" name="Text 33"/>
          <p:cNvSpPr/>
          <p:nvPr/>
        </p:nvSpPr>
        <p:spPr>
          <a:xfrm>
            <a:off x="6035040" y="35661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fact_performance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452360" y="3566160"/>
            <a:ext cx="1280160" cy="347472"/>
          </a:xfrm>
          <a:prstGeom prst="roundRect">
            <a:avLst>
              <a:gd name="adj" fmla="val 13158"/>
            </a:avLst>
          </a:prstGeom>
          <a:solidFill>
            <a:srgbClr val="EAF1FB"/>
          </a:solidFill>
          <a:ln/>
        </p:spPr>
      </p:sp>
      <p:sp>
        <p:nvSpPr>
          <p:cNvPr id="37" name="Text 35"/>
          <p:cNvSpPr/>
          <p:nvPr/>
        </p:nvSpPr>
        <p:spPr>
          <a:xfrm>
            <a:off x="7452360" y="35661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fact_portfolio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280160" cy="256032"/>
          </a:xfrm>
          <a:prstGeom prst="roundRect">
            <a:avLst>
              <a:gd name="adj" fmla="val 14286"/>
            </a:avLst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Data Analysis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publication-quality charts — key market insights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371600"/>
          <a:ext cx="475488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5303520" y="1371600"/>
          <a:ext cx="347472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280160" cy="256032"/>
          </a:xfrm>
          <a:prstGeom prst="roundRect">
            <a:avLst>
              <a:gd name="adj" fmla="val 14286"/>
            </a:avLst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INSIGHTS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EDA Findings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critical insights from exploratory analysis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39319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17320"/>
            <a:ext cx="164592" cy="841248"/>
          </a:xfrm>
          <a:prstGeom prst="roundRect">
            <a:avLst>
              <a:gd name="adj" fmla="val 22222"/>
            </a:avLst>
          </a:prstGeom>
          <a:solidFill>
            <a:srgbClr val="185FA5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90472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+169% SIP Growth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1792" y="1801368"/>
            <a:ext cx="3584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SIP inflows grew from ₹11,517 Cr (Jan 2022) to ₹31,002 Cr (Dec 2025) — uninterrupted growth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423160"/>
            <a:ext cx="39319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423160"/>
            <a:ext cx="164592" cy="841248"/>
          </a:xfrm>
          <a:prstGeom prst="roundRect">
            <a:avLst>
              <a:gd name="adj" fmla="val 22222"/>
            </a:avLst>
          </a:prstGeom>
          <a:solidFill>
            <a:srgbClr val="1D9E75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" y="2496312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📂 +97% Folio Growth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" y="2807208"/>
            <a:ext cx="3584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folios doubled from 13.26 crore to 26.12 crore in just 4 years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3429000"/>
            <a:ext cx="39319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429000"/>
            <a:ext cx="164592" cy="841248"/>
          </a:xfrm>
          <a:prstGeom prst="roundRect">
            <a:avLst>
              <a:gd name="adj" fmla="val 22222"/>
            </a:avLst>
          </a:prstGeom>
          <a:solidFill>
            <a:srgbClr val="D85A30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" y="3502152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🏦 Banking Dominates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" y="3813048"/>
            <a:ext cx="3584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Banking + IT = 34% of all equity portfolio weight across 40 schemes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1417320"/>
            <a:ext cx="42976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1417320"/>
            <a:ext cx="164592" cy="841248"/>
          </a:xfrm>
          <a:prstGeom prst="roundRect">
            <a:avLst>
              <a:gd name="adj" fmla="val 22222"/>
            </a:avLst>
          </a:prstGeom>
          <a:solidFill>
            <a:srgbClr val="533AB7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" y="1490472"/>
            <a:ext cx="395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👴 Age 56+ Invests Most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" y="1801368"/>
            <a:ext cx="3950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Investors aged 56+ have highest avg SIP of ₹11,575 — retirement planning focus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63440" y="2423160"/>
            <a:ext cx="42976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2423160"/>
            <a:ext cx="164592" cy="841248"/>
          </a:xfrm>
          <a:prstGeom prst="roundRect">
            <a:avLst>
              <a:gd name="adj" fmla="val 22222"/>
            </a:avLst>
          </a:prstGeom>
          <a:solidFill>
            <a:srgbClr val="BA7517"/>
          </a:solidFill>
          <a:ln/>
        </p:spPr>
      </p:sp>
      <p:sp>
        <p:nvSpPr>
          <p:cNvPr id="24" name="Text 22"/>
          <p:cNvSpPr/>
          <p:nvPr/>
        </p:nvSpPr>
        <p:spPr>
          <a:xfrm>
            <a:off x="4919472" y="2496312"/>
            <a:ext cx="395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🌆 T30 Cities = 65.8%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19472" y="2807208"/>
            <a:ext cx="3950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30 cities contribute 65.8% of volume; B30 cities growing steadily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280160" cy="256032"/>
          </a:xfrm>
          <a:prstGeom prst="roundRect">
            <a:avLst>
              <a:gd name="adj" fmla="val 14286"/>
            </a:avLst>
          </a:prstGeom>
          <a:solidFill>
            <a:srgbClr val="D85A3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Performance Analytics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Risk-adjusted metrics computed from 46,000 daily NAV records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412480" cy="3383280"/>
        </p:xfrm>
        <a:graphic>
          <a:graphicData uri="http://schemas.openxmlformats.org/drawingml/2006/table">
            <a:tbl>
              <a:tblPr/>
              <a:tblGrid>
                <a:gridCol w="1645920"/>
                <a:gridCol w="3840480"/>
                <a:gridCol w="2926080"/>
              </a:tblGrid>
              <a:tr h="4833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Formula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Best Fund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85FA5"/>
                          </a:solidFill>
                        </a:rPr>
                        <a:t>CAGR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(End NAV / Start NAV)^(1/years) - 1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9E75"/>
                          </a:solidFill>
                        </a:rPr>
                        <a:t>SBI Small Cap Direct — 23.1%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85FA5"/>
                          </a:solidFill>
                        </a:rPr>
                        <a:t>Sharpe Ratio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(Rp - Rf) / σp × √252, Rf = 6.5%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9E75"/>
                          </a:solidFill>
                        </a:rPr>
                        <a:t>ICICI Pru Liquid — 7.68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85FA5"/>
                          </a:solidFill>
                        </a:rPr>
                        <a:t>Alpha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OLS intercept × 252 vs Nifty 100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9E75"/>
                          </a:solidFill>
                        </a:rPr>
                        <a:t>Mirae Asset Large Cap — 3.27%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85FA5"/>
                          </a:solidFill>
                        </a:rPr>
                        <a:t>Beta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OLS slope vs Nifty 100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9E75"/>
                          </a:solidFill>
                        </a:rPr>
                        <a:t>Avg 0.92 across equity funds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85FA5"/>
                          </a:solidFill>
                        </a:rPr>
                        <a:t>Max Drawdown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min(NAV / running_max - 1)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9E75"/>
                          </a:solidFill>
                        </a:rPr>
                        <a:t>Liquid funds near 0%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85FA5"/>
                          </a:solidFill>
                        </a:rPr>
                        <a:t>Composite Score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30% CAGR + 25% Sharpe + 20% Alpha + ...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9E75"/>
                          </a:solidFill>
                        </a:rPr>
                        <a:t>SBI Small Cap Direct — 72.8/100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280160" cy="256032"/>
          </a:xfrm>
          <a:prstGeom prst="roundRect">
            <a:avLst>
              <a:gd name="adj" fmla="val 14286"/>
            </a:avLst>
          </a:prstGeom>
          <a:solidFill>
            <a:srgbClr val="D85A3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SCORECARD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8 Funds — Composite Scorecard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Ranked by: 30% Return + 25% Sharpe + 20% Alpha + 15% Expense + 10% Drawdown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371600"/>
          <a:ext cx="84124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280160" cy="256032"/>
          </a:xfrm>
          <a:prstGeom prst="roundRect">
            <a:avLst>
              <a:gd name="adj" fmla="val 14286"/>
            </a:avLst>
          </a:prstGeom>
          <a:solidFill>
            <a:srgbClr val="533AB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Dashboard — 6 Pages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 Chart.js HTML + Power BI Desktop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17320"/>
            <a:ext cx="146304" cy="914400"/>
          </a:xfrm>
          <a:prstGeom prst="roundRect">
            <a:avLst>
              <a:gd name="adj" fmla="val 25000"/>
            </a:avLst>
          </a:prstGeom>
          <a:solidFill>
            <a:srgbClr val="185FA5"/>
          </a:solidFill>
          <a:ln/>
        </p:spPr>
      </p:sp>
      <p:sp>
        <p:nvSpPr>
          <p:cNvPr id="8" name="Text 6"/>
          <p:cNvSpPr/>
          <p:nvPr/>
        </p:nvSpPr>
        <p:spPr>
          <a:xfrm>
            <a:off x="603504" y="1508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Industry Overview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3504" y="181965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KPIs, AUM bar chart, Folio growth, Category inflows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00600" y="141732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417320"/>
            <a:ext cx="146304" cy="914400"/>
          </a:xfrm>
          <a:prstGeom prst="roundRect">
            <a:avLst>
              <a:gd name="adj" fmla="val 25000"/>
            </a:avLst>
          </a:prstGeom>
          <a:solidFill>
            <a:srgbClr val="1D9E75"/>
          </a:solidFill>
          <a:ln/>
        </p:spPr>
      </p:sp>
      <p:sp>
        <p:nvSpPr>
          <p:cNvPr id="12" name="Text 10"/>
          <p:cNvSpPr/>
          <p:nvPr/>
        </p:nvSpPr>
        <p:spPr>
          <a:xfrm>
            <a:off x="5038344" y="1508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Fund Performance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38344" y="181965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Scorecard table, Return vs Risk scatter, Expense ratio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51460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514600"/>
            <a:ext cx="146304" cy="914400"/>
          </a:xfrm>
          <a:prstGeom prst="roundRect">
            <a:avLst>
              <a:gd name="adj" fmla="val 25000"/>
            </a:avLst>
          </a:prstGeom>
          <a:solidFill>
            <a:srgbClr val="D85A30"/>
          </a:solidFill>
          <a:ln/>
        </p:spPr>
      </p:sp>
      <p:sp>
        <p:nvSpPr>
          <p:cNvPr id="16" name="Text 14"/>
          <p:cNvSpPr/>
          <p:nvPr/>
        </p:nvSpPr>
        <p:spPr>
          <a:xfrm>
            <a:off x="603504" y="2606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Investor Analytics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3504" y="291693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volume, Transaction split, T30/B30, Age groups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00600" y="251460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2514600"/>
            <a:ext cx="146304" cy="914400"/>
          </a:xfrm>
          <a:prstGeom prst="roundRect">
            <a:avLst>
              <a:gd name="adj" fmla="val 25000"/>
            </a:avLst>
          </a:prstGeom>
          <a:solidFill>
            <a:srgbClr val="533AB7"/>
          </a:solidFill>
          <a:ln/>
        </p:spPr>
      </p:sp>
      <p:sp>
        <p:nvSpPr>
          <p:cNvPr id="20" name="Text 18"/>
          <p:cNvSpPr/>
          <p:nvPr/>
        </p:nvSpPr>
        <p:spPr>
          <a:xfrm>
            <a:off x="5038344" y="2606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SIP Trends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38344" y="291693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SIP, AUM growth, Active accounts growth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61188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611880"/>
            <a:ext cx="146304" cy="914400"/>
          </a:xfrm>
          <a:prstGeom prst="roundRect">
            <a:avLst>
              <a:gd name="adj" fmla="val 25000"/>
            </a:avLst>
          </a:prstGeom>
          <a:solidFill>
            <a:srgbClr val="BA7517"/>
          </a:solidFill>
          <a:ln/>
        </p:spPr>
      </p:sp>
      <p:sp>
        <p:nvSpPr>
          <p:cNvPr id="24" name="Text 22"/>
          <p:cNvSpPr/>
          <p:nvPr/>
        </p:nvSpPr>
        <p:spPr>
          <a:xfrm>
            <a:off x="603504" y="3703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 Sector &amp; Portfolio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3504" y="401421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Cumulative sector weights, Sector donut chart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00600" y="361188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00600" y="3611880"/>
            <a:ext cx="146304" cy="914400"/>
          </a:xfrm>
          <a:prstGeom prst="roundRect">
            <a:avLst>
              <a:gd name="adj" fmla="val 25000"/>
            </a:avLst>
          </a:prstGeom>
          <a:solidFill>
            <a:srgbClr val="A32D2D"/>
          </a:solidFill>
          <a:ln/>
        </p:spPr>
      </p:sp>
      <p:sp>
        <p:nvSpPr>
          <p:cNvPr id="28" name="Text 26"/>
          <p:cNvSpPr/>
          <p:nvPr/>
        </p:nvSpPr>
        <p:spPr>
          <a:xfrm>
            <a:off x="5038344" y="3703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Risk Metrics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38344" y="401421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 95%, CVaR, Max drawdown scatter plot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280160" cy="256032"/>
          </a:xfrm>
          <a:prstGeom prst="roundRect">
            <a:avLst>
              <a:gd name="adj" fmla="val 14286"/>
            </a:avLst>
          </a:prstGeom>
          <a:solidFill>
            <a:srgbClr val="A32D2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Analytics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VaR, Cohort Analysis &amp; Fund Recommender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37160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577840" y="1417320"/>
            <a:ext cx="1554480" cy="1417320"/>
          </a:xfrm>
          <a:prstGeom prst="roundRect">
            <a:avLst>
              <a:gd name="adj" fmla="val 5161"/>
            </a:avLst>
          </a:prstGeom>
          <a:solidFill>
            <a:srgbClr val="F4F6F9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080760" y="1527048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A32D2D"/>
          </a:solidFill>
          <a:ln/>
        </p:spPr>
      </p:sp>
      <p:sp>
        <p:nvSpPr>
          <p:cNvPr id="9" name="Text 6"/>
          <p:cNvSpPr/>
          <p:nvPr/>
        </p:nvSpPr>
        <p:spPr>
          <a:xfrm>
            <a:off x="5577840" y="213055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 Range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577840" y="238658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cap: -2.60%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Liquid: -0.03%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7315200" y="1417320"/>
            <a:ext cx="1554480" cy="1417320"/>
          </a:xfrm>
          <a:prstGeom prst="roundRect">
            <a:avLst>
              <a:gd name="adj" fmla="val 5161"/>
            </a:avLst>
          </a:prstGeom>
          <a:solidFill>
            <a:srgbClr val="F4F6F9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818120" y="1527048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533AB7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0" y="213055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Cohort Insight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315200" y="238658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 investors have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portfolio value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577840" y="3017520"/>
            <a:ext cx="1554480" cy="1417320"/>
          </a:xfrm>
          <a:prstGeom prst="roundRect">
            <a:avLst>
              <a:gd name="adj" fmla="val 5161"/>
            </a:avLst>
          </a:prstGeom>
          <a:solidFill>
            <a:srgbClr val="F4F6F9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080760" y="3127248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D9E75"/>
          </a:solidFill>
          <a:ln/>
        </p:spPr>
      </p:sp>
      <p:sp>
        <p:nvSpPr>
          <p:cNvPr id="17" name="Text 14"/>
          <p:cNvSpPr/>
          <p:nvPr/>
        </p:nvSpPr>
        <p:spPr>
          <a:xfrm>
            <a:off x="5577840" y="373075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At-Risk SIPs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577840" y="398678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Investors with gap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&gt;35 days flagged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315200" y="3017520"/>
            <a:ext cx="1554480" cy="1417320"/>
          </a:xfrm>
          <a:prstGeom prst="roundRect">
            <a:avLst>
              <a:gd name="adj" fmla="val 5161"/>
            </a:avLst>
          </a:prstGeom>
          <a:solidFill>
            <a:srgbClr val="F4F6F9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818120" y="3127248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BA7517"/>
          </a:solidFill>
          <a:ln/>
        </p:spPr>
      </p:sp>
      <p:sp>
        <p:nvSpPr>
          <p:cNvPr id="21" name="Text 18"/>
          <p:cNvSpPr/>
          <p:nvPr/>
        </p:nvSpPr>
        <p:spPr>
          <a:xfrm>
            <a:off x="7315200" y="373075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Recommender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7315200" y="398678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risk → Liquid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risk → Small Cap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280160" cy="256032"/>
          </a:xfrm>
          <a:prstGeom prst="roundRect">
            <a:avLst>
              <a:gd name="adj" fmla="val 14286"/>
            </a:avLst>
          </a:prstGeom>
          <a:solidFill>
            <a:srgbClr val="0F27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Key Findings &amp; Insights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data tells us about the Indian MF industry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411480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54480"/>
            <a:ext cx="310896" cy="310896"/>
          </a:xfrm>
          <a:prstGeom prst="ellipse">
            <a:avLst/>
          </a:prstGeom>
          <a:solidFill>
            <a:srgbClr val="185FA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141732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SBI MF leads with ₹12.5L Cr AUM — doubled since 2022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00600" y="1417320"/>
            <a:ext cx="411480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92040" y="1554480"/>
            <a:ext cx="310896" cy="310896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03520" y="141732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SIP inflows grew 169% in 4 years — ₹31,002 Cr in Dec 2025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130552"/>
            <a:ext cx="411480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267712"/>
            <a:ext cx="310896" cy="310896"/>
          </a:xfrm>
          <a:prstGeom prst="ellipse">
            <a:avLst/>
          </a:prstGeom>
          <a:solidFill>
            <a:srgbClr val="D85A3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267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68680" y="2130552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SBI Small Cap Direct tops scorecard with 72.8/100 and 23.1% 3yr CAGR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00600" y="2130552"/>
            <a:ext cx="411480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92040" y="2267712"/>
            <a:ext cx="310896" cy="310896"/>
          </a:xfrm>
          <a:prstGeom prst="ellipse">
            <a:avLst/>
          </a:prstGeom>
          <a:solidFill>
            <a:srgbClr val="533AB7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2267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03520" y="2130552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Banking + IT = 34% of all equity portfolio weight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2843784"/>
            <a:ext cx="411480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2980944"/>
            <a:ext cx="310896" cy="310896"/>
          </a:xfrm>
          <a:prstGeom prst="ellipse">
            <a:avLst/>
          </a:prstGeom>
          <a:solidFill>
            <a:srgbClr val="A32D2D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29809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68680" y="2843784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ABSL Small Cap has highest VaR at -2.60% daily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00600" y="2843784"/>
            <a:ext cx="411480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92040" y="2980944"/>
            <a:ext cx="310896" cy="310896"/>
          </a:xfrm>
          <a:prstGeom prst="ellipse">
            <a:avLst/>
          </a:prstGeom>
          <a:solidFill>
            <a:srgbClr val="BA7517"/>
          </a:solidFill>
          <a:ln/>
        </p:spPr>
      </p:sp>
      <p:sp>
        <p:nvSpPr>
          <p:cNvPr id="28" name="Text 26"/>
          <p:cNvSpPr/>
          <p:nvPr/>
        </p:nvSpPr>
        <p:spPr>
          <a:xfrm>
            <a:off x="4892040" y="29809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303520" y="2843784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56+ investors have highest avg SIP at ₹11,575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3557016"/>
            <a:ext cx="411480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" y="3694176"/>
            <a:ext cx="310896" cy="310896"/>
          </a:xfrm>
          <a:prstGeom prst="ellipse">
            <a:avLst/>
          </a:prstGeom>
          <a:solidFill>
            <a:srgbClr val="0F2744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36941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68680" y="3557016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T30 cities = 65.8% of volume; B30 cities growing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00600" y="3557016"/>
            <a:ext cx="411480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92040" y="3694176"/>
            <a:ext cx="310896" cy="310896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36" name="Text 34"/>
          <p:cNvSpPr/>
          <p:nvPr/>
        </p:nvSpPr>
        <p:spPr>
          <a:xfrm>
            <a:off x="4892040" y="36941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303520" y="3557016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Folio count doubled from 13.26 Cr to 26.12 Cr (+97%)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65760" y="4270248"/>
            <a:ext cx="411480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57200" y="4407408"/>
            <a:ext cx="310896" cy="310896"/>
          </a:xfrm>
          <a:prstGeom prst="ellipse">
            <a:avLst/>
          </a:prstGeom>
          <a:solidFill>
            <a:srgbClr val="185FA5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" y="4407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68680" y="4270248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Mirae Asset Large Cap has best Alpha at 3.27% vs Nifty 100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800600" y="4270248"/>
            <a:ext cx="411480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892040" y="4407408"/>
            <a:ext cx="310896" cy="310896"/>
          </a:xfrm>
          <a:prstGeom prst="ellipse">
            <a:avLst/>
          </a:prstGeom>
          <a:solidFill>
            <a:srgbClr val="D85A30"/>
          </a:solidFill>
          <a:ln/>
        </p:spPr>
      </p:sp>
      <p:sp>
        <p:nvSpPr>
          <p:cNvPr id="44" name="Text 42"/>
          <p:cNvSpPr/>
          <p:nvPr/>
        </p:nvSpPr>
        <p:spPr>
          <a:xfrm>
            <a:off x="4892040" y="4407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303520" y="4270248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 of all 5,000 investors are KYC verified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C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Bluestock Fintech — Mutual Fund Analytics Platform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0" y="2194560"/>
            <a:ext cx="2743200" cy="36576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468880"/>
            <a:ext cx="1920240" cy="594360"/>
          </a:xfrm>
          <a:prstGeom prst="roundRect">
            <a:avLst>
              <a:gd name="adj" fmla="val 10769"/>
            </a:avLst>
          </a:prstGeom>
          <a:solidFill>
            <a:srgbClr val="1A3E6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50545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B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C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 Pipeline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606040" y="2468880"/>
            <a:ext cx="1920240" cy="594360"/>
          </a:xfrm>
          <a:prstGeom prst="roundRect">
            <a:avLst>
              <a:gd name="adj" fmla="val 10769"/>
            </a:avLst>
          </a:prstGeom>
          <a:solidFill>
            <a:srgbClr val="1A3E6B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250545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B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06040" y="27432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C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DB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63440" y="2468880"/>
            <a:ext cx="1920240" cy="594360"/>
          </a:xfrm>
          <a:prstGeom prst="roundRect">
            <a:avLst>
              <a:gd name="adj" fmla="val 10769"/>
            </a:avLst>
          </a:prstGeom>
          <a:solidFill>
            <a:srgbClr val="1A3E6B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250545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B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27432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C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Notebook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720840" y="2468880"/>
            <a:ext cx="1920240" cy="594360"/>
          </a:xfrm>
          <a:prstGeom prst="roundRect">
            <a:avLst>
              <a:gd name="adj" fmla="val 10769"/>
            </a:avLst>
          </a:prstGeom>
          <a:solidFill>
            <a:srgbClr val="1A3E6B"/>
          </a:solidFill>
          <a:ln/>
        </p:spPr>
      </p:sp>
      <p:sp>
        <p:nvSpPr>
          <p:cNvPr id="15" name="Text 13"/>
          <p:cNvSpPr/>
          <p:nvPr/>
        </p:nvSpPr>
        <p:spPr>
          <a:xfrm>
            <a:off x="6720840" y="250545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B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720840" y="27432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C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8640" y="3200400"/>
            <a:ext cx="1920240" cy="594360"/>
          </a:xfrm>
          <a:prstGeom prst="roundRect">
            <a:avLst>
              <a:gd name="adj" fmla="val 10769"/>
            </a:avLst>
          </a:prstGeom>
          <a:solidFill>
            <a:srgbClr val="1A3E6B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3697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B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4747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C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606040" y="3200400"/>
            <a:ext cx="1920240" cy="594360"/>
          </a:xfrm>
          <a:prstGeom prst="roundRect">
            <a:avLst>
              <a:gd name="adj" fmla="val 10769"/>
            </a:avLst>
          </a:prstGeom>
          <a:solidFill>
            <a:srgbClr val="1A3E6B"/>
          </a:solidFill>
          <a:ln/>
        </p:spPr>
      </p:sp>
      <p:sp>
        <p:nvSpPr>
          <p:cNvPr id="21" name="Text 19"/>
          <p:cNvSpPr/>
          <p:nvPr/>
        </p:nvSpPr>
        <p:spPr>
          <a:xfrm>
            <a:off x="2606040" y="323697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B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606040" y="34747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C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63440" y="3200400"/>
            <a:ext cx="1920240" cy="594360"/>
          </a:xfrm>
          <a:prstGeom prst="roundRect">
            <a:avLst>
              <a:gd name="adj" fmla="val 10769"/>
            </a:avLst>
          </a:prstGeom>
          <a:solidFill>
            <a:srgbClr val="1A3E6B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323697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B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D7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63440" y="34747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C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  |  Sumit  |  Nikhita  |  Jyoti Prakash Gochhayat  |  June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Bluestock Fintech — Mutual Fund Analytics Platform</dc:title>
  <dc:subject>PptxGenJS Presentation</dc:subject>
  <dc:creator>Prem | Bluestock Fintech Intern</dc:creator>
  <cp:lastModifiedBy>Prem | Bluestock Fintech Intern</cp:lastModifiedBy>
  <cp:revision>1</cp:revision>
  <dcterms:created xsi:type="dcterms:W3CDTF">2026-06-09T16:46:25Z</dcterms:created>
  <dcterms:modified xsi:type="dcterms:W3CDTF">2026-06-09T16:46:25Z</dcterms:modified>
</cp:coreProperties>
</file>